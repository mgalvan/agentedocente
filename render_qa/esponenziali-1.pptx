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1. La crescita esponenziale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Osserva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907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2628" y="1270000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5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6084" y="1270000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738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939" y="127000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416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7717" y="12700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126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4820" y="12700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33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74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472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8276" y="1270000"/>
            <a:ext cx="9019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diverso?</a:t>
            </a:r>
          </a:p>
        </p:txBody>
      </p:sp>
      <p:pic>
        <p:nvPicPr>
          <p:cNvPr id="18" name="Picture 17" descr="Grafico con due funzioni, una lineare (y=x+1) e una esponenziale (y=2^x), che si intersecano in (0,1). La funzione esponenziale cresce molto più rapidamente dopo l'intersezion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48789"/>
            <a:ext cx="6858000" cy="411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8000" y="6022340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90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455" y="602234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54682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8233" y="6022340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318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736" y="6022340"/>
            <a:ext cx="133403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velocemente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2670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6220" y="6022340"/>
            <a:ext cx="5465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5462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8178" y="602234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967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227" y="6022340"/>
            <a:ext cx="6100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518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8735" y="6022340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(0,1)?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La Funzione Esponenziale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20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754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8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3412" y="1270000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032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3874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807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1628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947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3030" y="1270000"/>
            <a:ext cx="6859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forma:</a:t>
            </a:r>
          </a:p>
        </p:txBody>
      </p:sp>
      <p:pic>
        <p:nvPicPr>
          <p:cNvPr id="14" name="Picture 13" descr="La funzione esponenziale y uguale a alla x, con a maggiore di zero e a diverso da u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67522"/>
            <a:ext cx="239077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8000" y="216407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20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54" y="216407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135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9" name="Picture 18" descr="Variabile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09" y="2271712"/>
            <a:ext cx="123825" cy="104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3413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7685" y="216407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9329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6841" y="216407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essere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286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6420" y="2164079"/>
            <a:ext cx="8130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137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4925" y="216407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202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5577" y="2164079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diversa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35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5906" y="216407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0109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3660" y="2164079"/>
            <a:ext cx="2287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000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30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50" y="261111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suo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54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904" y="2611119"/>
            <a:ext cx="11817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andamento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159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5141" y="2611119"/>
            <a:ext cx="8514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dipende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3850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2051" y="2611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700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0554" y="261111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303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6582" y="261111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3938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2936" y="261111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9854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50" name="Picture 49" descr="Variabile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092" y="2718752"/>
            <a:ext cx="123825" cy="1047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1131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486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La Funzione Esponenziale</a:t>
            </a:r>
          </a:p>
        </p:txBody>
      </p:sp>
      <p:pic>
        <p:nvPicPr>
          <p:cNvPr id="3" name="Picture 2" descr="Grafico della funzione esponenziale y=2^x, che passa per (0,1) ed è 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57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" name="Picture 5" descr="a maggiore di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8" y="5654357"/>
            <a:ext cx="542925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9453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300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6555" y="55753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4406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7956" y="55753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206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615" y="5575300"/>
            <a:ext cx="10670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**cresce**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54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8095" y="557530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2. La Funzione Esponenziale</a:t>
            </a:r>
          </a:p>
        </p:txBody>
      </p:sp>
      <p:pic>
        <p:nvPicPr>
          <p:cNvPr id="3" name="Picture 2" descr="Grafico della funzione esponenziale y=(1/2)^x, che passa per (0,1) ed è de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757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" name="Picture 5" descr="0 minore di a minore di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8" y="5654357"/>
            <a:ext cx="962025" cy="161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38553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210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655" y="55753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3506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7056" y="55753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1164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4715" y="5575300"/>
            <a:ext cx="13212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**decresce**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784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1398" y="5575300"/>
            <a:ext cx="13722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3. Esempio: Osserviamo un grafico</a:t>
            </a:r>
          </a:p>
        </p:txBody>
      </p:sp>
      <p:pic>
        <p:nvPicPr>
          <p:cNvPr id="3" name="Picture 2" descr="Grafico della funzione esponenziale y=3^x, che passa per (0,1) ed è 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5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103" y="5575300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60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152" y="55753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181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9731" y="5575300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716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0712" y="5575300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927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1478" y="557530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602234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5006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8557" y="602234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266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6216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331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6868" y="6022340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7849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1400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8501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2052" y="6022340"/>
            <a:ext cx="14103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4. Costruiamo un grafico: y = 2^x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685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Calcoliamo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384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1977" y="1270000"/>
            <a:ext cx="6352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alcuni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9908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631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823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1787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211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5665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51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66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117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5" name="Picture 14" descr="y uguale 2 alla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725" y="1327626"/>
            <a:ext cx="642937" cy="2047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5306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661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1717039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" y="181863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0" y="1717039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7600" y="181863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900" y="18186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5450" y="1818639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8953" y="18186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25" name="Picture 24" descr="2 alla 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504" y="1900078"/>
            <a:ext cx="228600" cy="15716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08000" y="2291079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2392679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0" y="2291079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n quar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2424429"/>
            <a:ext cx="185737" cy="280987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08000" y="2889567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2991167"/>
            <a:ext cx="2413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89567"/>
            <a:ext cx="5588000" cy="547687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n mezz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600" y="3022917"/>
            <a:ext cx="185737" cy="28098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08000" y="348805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358965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0" y="348805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7600" y="358965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000" y="406209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" y="416369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0" y="406209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7600" y="416369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8000" y="463613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473773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0" y="463613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7600" y="473773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521017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600" y="531177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0" y="5210174"/>
            <a:ext cx="5588000" cy="523240"/>
          </a:xfrm>
          <a:prstGeom prst="rect">
            <a:avLst/>
          </a:prstGeom>
          <a:noFill/>
          <a:ln>
            <a:solidFill>
              <a:srgbClr val="B0B8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7600" y="5311774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000" y="5784214"/>
            <a:ext cx="5462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Ecco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177" y="57842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9728" y="5784214"/>
            <a:ext cx="5970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38655" y="57842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02206" y="5784214"/>
            <a:ext cx="7497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appare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13838" y="57842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77389" y="5784214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8887" y="5784214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42438" y="5784214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4. Costruiamo un grafico: y = 2^x</a:t>
            </a:r>
          </a:p>
        </p:txBody>
      </p:sp>
      <p:pic>
        <p:nvPicPr>
          <p:cNvPr id="3" name="Picture 2" descr="Grafico della funzione esponenziale y=2^x con punti calcolati per x da -2 a 3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55753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155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5103" y="5575300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3606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7157" y="5575300"/>
            <a:ext cx="8766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riguardo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5662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9212" y="5575300"/>
            <a:ext cx="7931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all'asse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4278" y="55753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7829" y="557530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Caratteristiche della Funzione Esponenziale y = a^x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12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674" y="1270000"/>
            <a:ext cx="9399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Dominio: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950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7" name="Picture 6" descr="x appartiene all'insieme dei numeri real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052" y="1346676"/>
            <a:ext cx="576262" cy="1666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1471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826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1816" y="1270000"/>
            <a:ext cx="4447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849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2046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essere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80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1626" y="12700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definita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863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183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251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6061" y="1270000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qualsiasi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531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8865" y="1270000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134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4894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74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6296" y="1270000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74" y="1717039"/>
            <a:ext cx="11941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Codominio: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370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29" name="Picture 28" descr="y maggiore di zer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255" y="1777047"/>
            <a:ext cx="533400" cy="2000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42605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960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5315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670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80258" y="171703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638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9934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778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1336" y="171703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563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9187" y="171703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479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8343" y="171703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049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4046" y="1717039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264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6198" y="1717039"/>
            <a:ext cx="21572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382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7371" y="171703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34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46951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7405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37603" y="171703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9975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306" y="1717039"/>
            <a:ext cx="6098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sopra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503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98586" y="171703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580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9351" y="1717039"/>
            <a:ext cx="2920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674" y="2164079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Intersezione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9285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56409" y="216407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2491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88463" y="216407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6567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29229" y="216407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708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0630" y="2164079"/>
            <a:ext cx="3810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135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77081" y="2164079"/>
            <a:ext cx="6100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903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73" name="Picture 72" descr="punto zero virgola u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589" y="2209799"/>
            <a:ext cx="509587" cy="2286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484757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11128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74678" y="2164079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168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75236" y="216407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perché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74066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0" name="Picture 79" descr="a elevato a zero uguale a u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617" y="2219324"/>
            <a:ext cx="642937" cy="20955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20595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69505" y="216407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9983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3383" y="2164079"/>
            <a:ext cx="4701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ogni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9543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6" name="Picture 85" descr="a diverso da zer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8988" y="2216943"/>
            <a:ext cx="542925" cy="21431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72731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7674" y="2611119"/>
            <a:ext cx="8640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47360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37157" y="261111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orizzontale: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05989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69539" y="261111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2310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86657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00957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64508" y="261111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(equazione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9539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00" name="Picture 99" descr="y uguale a zer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943" y="2671127"/>
            <a:ext cx="533400" cy="200025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417743" y="2611119"/>
            <a:ext cx="17777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741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20969" y="2611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87517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38723" y="261111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0283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66382" y="2611119"/>
            <a:ext cx="2031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3143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94982" y="2611119"/>
            <a:ext cx="8638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avvicina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20685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84236" y="261111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4638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809939" y="261111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più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1489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178442" y="2611119"/>
            <a:ext cx="79316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all'asse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3350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97059" y="2611119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111359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74909" y="2611119"/>
            <a:ext cx="3556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92435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55986" y="261111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3729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000841" y="2611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17869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8000" y="2931159"/>
            <a:ext cx="5844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tocca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4354" y="2931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117904" y="2931159"/>
            <a:ext cx="4699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mai.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8000" y="3378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84123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7674" y="3378199"/>
            <a:ext cx="11689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Monotonia: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778558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42109" y="337819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21687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34" name="Picture 133" descr="a maggiore di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5238" y="3457257"/>
            <a:ext cx="542925" cy="161925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2753563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17114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80664" y="3378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058515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22066" y="337819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86174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049725" y="337819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176826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240377" y="337819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02530" y="3378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66080" y="3378199"/>
            <a:ext cx="10926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8000" y="38252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84123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47674" y="3825239"/>
            <a:ext cx="3176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27252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50" name="Picture 149" descr="0 minore di a minore di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803" y="3904297"/>
            <a:ext cx="962025" cy="161925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978228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041778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105329" y="38252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283180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346731" y="38252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210839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274390" y="38252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401491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465042" y="382523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227195" y="38252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290745" y="3825239"/>
            <a:ext cx="13468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decrescente.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8000" y="4272279"/>
            <a:ext cx="189318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Rappresentazione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363089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426639" y="4272279"/>
            <a:ext cx="6096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visiva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998139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061690" y="4272279"/>
            <a:ext cx="3430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dei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66642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30193" y="427227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due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811498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75049" y="4272279"/>
            <a:ext cx="4445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casi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281500" y="42722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345051" y="4272279"/>
            <a:ext cx="10034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principali: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Caratteristiche della Funzione Esponenziale y = a^x</a:t>
            </a:r>
          </a:p>
        </p:txBody>
      </p:sp>
      <p:pic>
        <p:nvPicPr>
          <p:cNvPr id="3" name="Picture 2" descr="Grafico generico di una funzione esponenziale y=a^x con a&gt;1, che mostra l'andamento crescente e il passaggio per (0,1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5. Caratteristiche della Funzione Esponenziale y = a^x</a:t>
            </a:r>
          </a:p>
        </p:txBody>
      </p:sp>
      <p:pic>
        <p:nvPicPr>
          <p:cNvPr id="3" name="Picture 2" descr="Grafico generico di una funzione esponenziale y=a^x con 0&lt;a&lt;1, che mostra l'andamento decrescente e il passaggio per (0,1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6. Applicazione: Analizziamo y = (1/3)^x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86986"/>
            <a:ext cx="6861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6081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631" y="1286986"/>
            <a:ext cx="115618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disegnarla,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7714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1265" y="1286986"/>
            <a:ext cx="8128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descrivi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5990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9541" y="1286986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7392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0942" y="1286986"/>
            <a:ext cx="14609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caratteristiche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3749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7300" y="1286986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0103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13654" y="1286986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762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7" name="Picture 16" descr="y uguale un terzo alla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313" y="1301750"/>
            <a:ext cx="919162" cy="290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85875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9426" y="1286986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175101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123" y="1751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74" y="1751012"/>
            <a:ext cx="12832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58" y="1751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409" y="1751012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912" y="1751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8463" y="1751012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5678" y="175101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9229" y="1751012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219805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123" y="2198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74" y="2198052"/>
            <a:ext cx="1905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50" y="2198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701" y="2198052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54682" y="2198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8233" y="2198052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45335" y="219805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8885" y="2198052"/>
            <a:ext cx="14103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decrescente?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000" y="264509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123" y="2645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674" y="2645092"/>
            <a:ext cx="37391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C'è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3488" y="2645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038" y="2645092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1242" y="2645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4792" y="2645092"/>
            <a:ext cx="9657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92451" y="264509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56002" y="2645092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Quale?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000" y="3092132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123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74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225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4776" y="3092132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0901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4452" y="3092132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62303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25854" y="3092132"/>
            <a:ext cx="15240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40154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3704" y="3092132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99309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62860" y="3092132"/>
            <a:ext cx="7367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1462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25012" y="3092132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2114" y="3092132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5665" y="3092132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negativi?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7. Trova l'errore nel grafico!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77510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50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8557" y="1270000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458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8136" y="127000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238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789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439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944" y="1270000"/>
            <a:ext cx="102930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disegnato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91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2704" y="1270000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303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6582" y="1270000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rappresentare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961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7" name="Picture 16" descr="y uguale 2 alla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168" y="1327626"/>
            <a:ext cx="642937" cy="2047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150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505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8607" y="1270000"/>
            <a:ext cx="37391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C'è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442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7971" y="127000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21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5725" y="1270000"/>
            <a:ext cx="7113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errore!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1717039"/>
            <a:ext cx="11052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[Immagine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510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655" y="171703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996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3511" y="1717039"/>
            <a:ext cx="11815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disponibile]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696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0519" y="1717039"/>
            <a:ext cx="7748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729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0847" y="171703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869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2249" y="171703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355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105" y="17170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121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4763" y="1717039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167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5225" y="1717039"/>
            <a:ext cx="4066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372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7279" y="1717039"/>
            <a:ext cx="146113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erroneamente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0314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3865" y="1717039"/>
            <a:ext cx="6480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passa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377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7321" y="171703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7648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1199" y="1717039"/>
            <a:ext cx="81854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l'origine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63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45190" y="1717039"/>
            <a:ext cx="5081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(0,0)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519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8000" y="2037079"/>
            <a:ext cx="8258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anziché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95755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9306" y="203707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89633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53184" y="2037079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(0,1),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736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50287" y="203707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80614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4165" y="2037079"/>
            <a:ext cx="130888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mantenendo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1495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78503" y="203707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2706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96257" y="2037079"/>
            <a:ext cx="118178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andamento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9943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03494" y="2037079"/>
            <a:ext cx="102908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crescente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94475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58025" y="2037079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tipico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91578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55129" y="203707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37932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01483" y="203707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65591" y="2037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29141" y="2037079"/>
            <a:ext cx="69806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y=2^x.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8000" y="2484119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80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4354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8145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45006" y="2484119"/>
            <a:ext cx="74218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l'errore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4909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12645" y="248411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9049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54046" y="2484119"/>
            <a:ext cx="7243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questo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0304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03854" y="2484119"/>
            <a:ext cx="72412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grafico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89883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53434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0535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44086" y="2484119"/>
            <a:ext cx="7369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perché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42916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06467" y="2484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33569" y="2484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7120" y="2484119"/>
            <a:ext cx="108005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sbagliato?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8. Sintesi della Lezione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Ricorda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5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9077" y="1270000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82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3377" y="127000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898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2533" y="1270000"/>
            <a:ext cx="6987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chiave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3187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6738" y="1270000"/>
            <a:ext cx="5209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9541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3092" y="1270000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7200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0751" y="1270000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66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7" name="Picture 16" descr="y uguale a alla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213" y="1327626"/>
            <a:ext cx="652462" cy="2047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19075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626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171703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123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74" y="1717039"/>
            <a:ext cx="9529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Concetto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2531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6082" y="1717039"/>
            <a:ext cx="10798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principale: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7812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1363" y="171703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5566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9117" y="1717039"/>
            <a:ext cx="90220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funzione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1322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6776" y="1717039"/>
            <a:ext cx="138501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esponenziale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368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32" name="Picture 31" descr="y uguale a alla 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238" y="1774666"/>
            <a:ext cx="652462" cy="20478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5100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8651" y="1717039"/>
            <a:ext cx="8891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descrive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972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3280" y="1717039"/>
            <a:ext cx="8256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0807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358" y="171703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1459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5010" y="1717039"/>
            <a:ext cx="14481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decrescimenti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5015" y="171703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8566" y="1717039"/>
            <a:ext cx="66057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rapidi.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000" y="216407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123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74" y="2164079"/>
            <a:ext cx="6733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Passa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8295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6504" y="216407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8657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72208" y="2164079"/>
            <a:ext cx="36842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02535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6085" y="2164079"/>
            <a:ext cx="139598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67584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31134" y="2164079"/>
            <a:ext cx="6100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punto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03092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55" name="Picture 54" descr="punto zero virgola u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642" y="2209799"/>
            <a:ext cx="509587" cy="2286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901630" y="216407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8000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12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674" y="2611119"/>
            <a:ext cx="69166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0124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61" name="Picture 60" descr="asse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792" y="2718752"/>
            <a:ext cx="133350" cy="1047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523542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87093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(</a:t>
            </a:r>
          </a:p>
        </p:txBody>
      </p:sp>
      <p:pic>
        <p:nvPicPr>
          <p:cNvPr id="64" name="Picture 63" descr="y uguale a zer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3217" y="2671127"/>
            <a:ext cx="533400" cy="20002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222017" y="261111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98141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61692" y="2611119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88793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52344" y="261111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4496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78047" y="261111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un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32250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95801" y="2611119"/>
            <a:ext cx="838657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asintoto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6358" y="261111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59909" y="2611119"/>
            <a:ext cx="120693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orizzontale.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8000" y="305815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412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7674" y="3058159"/>
            <a:ext cx="762076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Cresce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5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35201" y="3058159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7660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2" name="Picture 81" descr="a maggiore di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0154" y="3137217"/>
            <a:ext cx="542925" cy="16192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30847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7202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35580" y="3058159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decresce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63010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6561" y="3058159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67963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89" name="Picture 88" descr="0 minore di a minore di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1514" y="3137217"/>
            <a:ext cx="962025" cy="16192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718939" y="305815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8000" y="3505199"/>
            <a:ext cx="11422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-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412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7674" y="3505199"/>
            <a:ext cx="6731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Errore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82725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46276" y="3505199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00479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64030" y="3505199"/>
            <a:ext cx="78767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evitare: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413609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477160" y="3505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non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8465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22016" y="3505199"/>
            <a:ext cx="4194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può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03320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66871" y="3505199"/>
            <a:ext cx="116875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intersecare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97527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61078" y="3505199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829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07" name="Picture 106" descr="asse 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843" y="3612832"/>
            <a:ext cx="133350" cy="104775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536059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24144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487695" y="3505199"/>
            <a:ext cx="88849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538444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01995" y="3505199"/>
            <a:ext cx="58422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valori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48120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11671" y="3505199"/>
            <a:ext cx="2159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di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89522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16" name="Picture 115" descr="variabile 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073" y="3589019"/>
            <a:ext cx="114300" cy="1524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592773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6324" y="3505199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sono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151928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15479" y="350519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sempre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77632" y="3505199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41182" y="3505199"/>
            <a:ext cx="8002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positivi!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8. Sintesi della Lezione</a:t>
            </a:r>
          </a:p>
        </p:txBody>
      </p:sp>
      <p:pic>
        <p:nvPicPr>
          <p:cNvPr id="3" name="Picture 2" descr="Grafico che mostra due funzioni esponenziali, y=2^x (crescente) e y=(1/2)^x (decrescente), entrambe passanti per (0,1) e con asintoto orizzontale l'asse 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30175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9. Verifica Veloce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92735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Rispondi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7254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0804" y="1270000"/>
            <a:ext cx="139758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velocemente:</a:t>
            </a:r>
          </a:p>
        </p:txBody>
      </p:sp>
      <p:pic>
        <p:nvPicPr>
          <p:cNvPr id="6" name="Picture 5" descr="Grafico della funzione esponenziale y=4^x, che passa per (0,1) ed è crescent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48789"/>
            <a:ext cx="68580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602234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203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54" y="6022340"/>
            <a:ext cx="533704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135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pic>
        <p:nvPicPr>
          <p:cNvPr id="11" name="Picture 10" descr="variabile 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909" y="6129972"/>
            <a:ext cx="123825" cy="1047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4134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7685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4787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8337" y="6022340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1840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5391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2492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6043" y="6022340"/>
            <a:ext cx="1652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3145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6695" y="6022340"/>
            <a:ext cx="17160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&lt;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198" y="602234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3749" y="6022340"/>
            <a:ext cx="292303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1?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254000"/>
            <a:ext cx="11214100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>
                <a:latin typeface="Arial"/>
              </a:defRPr>
            </a:pPr>
            <a:r>
              <a:t>9. Verifica Veloce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1270000"/>
            <a:ext cx="571652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Dove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552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5103" y="1270000"/>
            <a:ext cx="96553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interseca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533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6084" y="1270000"/>
            <a:ext cx="615315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l'asse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3299" y="1270000"/>
            <a:ext cx="101650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6850" y="1270000"/>
            <a:ext cx="279501" cy="370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800">
                <a:latin typeface="Arial"/>
              </a:defRPr>
            </a:pPr>
            <a:r>
              <a:t>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