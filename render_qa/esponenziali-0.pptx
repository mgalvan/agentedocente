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Attivare attenzione e conoscenze pregresse. Far emergere l'idea di crescita rapida.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Mostrare il grafico e porre le domande. Ascoltare le risposte degli studenti. Far notare il punto di intersezione (0,1) e la successiva divergenza. Non focalizzarsi su formule, ma sull'andamento.</a:t>
            </a:r>
          </a:p>
          <a:p>
            <a:r>
              <a:t>BES/DSA: Focalizzarsi sull'osservazione visiva e la verbalizzazione semplice del 'cresce più velocemente'.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Introdurre il concetto di funzione esponenziale e le sue condizioni di base (a&gt;0, a!=1).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Spiegazione frontale. Enfatizzare le condizioni sulla base 'a'. Mostrare i due grafici e far notare l'andamento opposto. Collegare a esempi reali (es. crescita popolazione, decadimento di un materiale).</a:t>
            </a:r>
          </a:p>
          <a:p>
            <a:r>
              <a:t>BES/DSA: Presentare i due grafici affiancati con i due casi (a&gt;1 e 0&lt;a&lt;1) per un confronto visivo immediato.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Verificare la comprensione iniziale dell'andamento e dei punti chiave del grafico.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Mostrare il grafico. Dare 10 secondi per pensare, poi chiedere a uno o due studenti. Accettare risposte brevi e orali. Feedback immediato.</a:t>
            </a:r>
          </a:p>
          <a:p>
            <a:r>
              <a:t>BES/DSA: Le domande sono dirette e richiedono un'osservazione visiva semplice. Non richiedere calcoli.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Costruire il grafico passo-passo, evidenziando il comportamento e i punti notevoli.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Chiedere agli studenti di calcolare i valori di 'y' per i diversi 'x'. Disegnare i punti alla lavagna progressivamente (o mostrare su slide). Guidare la discussione sul perché la funzione non attraversa l'asse x e passa per (0,1).</a:t>
            </a:r>
          </a:p>
          <a:p>
            <a:r>
              <a:t>BES/DSA: Fornire la tabella già parzialmente compilata o guidare fortemente nel calcolo dei valori. Enfatizzare l'aspetto visivo del grafico.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Formalizzare le proprietà del grafico dopo l'esperienza pratica.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Presentare le proprietà. Usare i grafici come riferimento visivo. Sottolineare i punti chiave (0,1) e l'asintoto y=0. Chiedere agli studenti di rileggere le proprietà con parole proprie.</a:t>
            </a:r>
          </a:p>
          <a:p>
            <a:r>
              <a:t>BES/DSA: Utilizzare i simboli matematici con supporto verbale. Mantenere i grafici a lato delle definizioni per facilitare l'associazione.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Applicare le proprietà appena formalizzate a una nuova funzione.</a:t>
            </a:r>
          </a:p>
          <a:p>
            <a:r>
              <a:t>Azione del docente: Dare 2-3 minuti per un lavoro individuale o a coppie. Raccogliere le risposte chiedendo a studenti diversi per ogni punto. Correggere e chiarire eventuali dubbi. Incoraggiare a giustificare le risposte.</a:t>
            </a:r>
          </a:p>
          <a:p>
            <a:r>
              <a:t>BES/DSA: Chiedere solo una delle caratteristiche a uno studente specifico, in modo da circoscrivere la richiesta.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Rafforzare il concetto attraverso l'individuazione di un errore comune.</a:t>
            </a:r>
          </a:p>
          <a:p>
            <a:r>
              <a:t>Azione del docente: Mostrare l'immagine. Lasciare il tempo agli studenti per osservare e discutere. Guidare la discussione sul perché il grafico non può passare per (0,0) e deve passare per (0,1). Correggere la misconcezione.</a:t>
            </a:r>
          </a:p>
          <a:p>
            <a:r>
              <a:t>BES/DSA: L'individuazione dell'errore su un'immagine è meno impegnativa della produzione. Si può chiedere 'il punto che non va bene è...'.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Fissare gli elementi essenziali della lezione.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Ricostruire la sintesi chiedendo agli studenti quali sono i 2-3 concetti più importanti. Usare il grafico riassuntivo per un richiamo visivo. Chiedere 'Qual è l'errore che non dobbiamo assolutamente fare?'</a:t>
            </a:r>
          </a:p>
          <a:p>
            <a:r>
              <a:t>BES/DSA: Presentare i punti chiave in forma di elenco numerato. Incoraggiare a ripetere le formule o i concetti chiave con le proprie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Obiettivo: Rilevare immediatamente la comprensione del concetto fondamentale.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Azione del docente: Mostrare il grafico e porre le domande in successione. Richiedere risposte rapide e orali. Non è una valutazione formale, ma un feedback per il docente.</a:t>
            </a:r>
          </a:p>
          <a:p>
            <a:r>
              <a:t>BES/DSA: Domande brevi e dirette, basate solo sull'osservazione visiva del grafico.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6.png"/><Relationship Id="rId11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6.png"/><Relationship Id="rId8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1. Ingresso e aggancio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50" y="1270000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2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760" y="1270000"/>
            <a:ext cx="8768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propone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149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044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74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4297" y="1270000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lavagna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48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840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260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6159" y="1270000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confronto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919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2743" y="1270000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visuale.</a:t>
            </a:r>
          </a:p>
        </p:txBody>
      </p:sp>
      <p:pic>
        <p:nvPicPr>
          <p:cNvPr id="18" name="Picture 17" descr="Grafico con due funzioni, una lineare (y=x+1) e una esponenziale (y=2^x), che si intersecano in (0,1). La funzione esponenziale cresce molto più rapidamente dopo l'intersezion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48789"/>
            <a:ext cx="6858000" cy="411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8000" y="6022340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52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803" y="602234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360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7157" y="6022340"/>
            <a:ext cx="6736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266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6216" y="6022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6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7617" y="6022340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diverso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439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7946" y="6022340"/>
            <a:ext cx="1581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nell'andamento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099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4547" y="6022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239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5948" y="6022340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220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5756" y="602234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7061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0612" y="602234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curve?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6640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0191" y="6022340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09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3647" y="602234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687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0425" y="602234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537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48928" y="6022340"/>
            <a:ext cx="13340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velocemente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4861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8412" y="6022340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1681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0369" y="602234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34572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8123" y="6022340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certo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06301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1. Ingresso e aggancio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7371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5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609" y="12700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41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7712" y="127000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7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6312" y="1270000"/>
            <a:ext cx="12325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incontrano?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Prima microlezione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2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754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8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3412" y="1270000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03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7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097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4527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583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9382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9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041" y="127000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molto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96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519" y="1270000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importante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42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976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08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378" y="1270000"/>
            <a:ext cx="12195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matematica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578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9333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83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1387" y="1270000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descrive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4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016" y="1270000"/>
            <a:ext cx="9783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fenomeni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624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9799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naturali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937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2929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003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1590040"/>
            <a:ext cx="13212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professionali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91131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4682" y="15900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2533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6084" y="159004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crescita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3611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7162" y="15900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4263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7814" y="1590040"/>
            <a:ext cx="14103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decadimento.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0100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3651" y="159004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7854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1405" y="159004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9908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3459" y="1590040"/>
            <a:ext cx="6224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forma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7760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71311" y="1590040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generale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0794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4344" y="159004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è:</a:t>
            </a:r>
          </a:p>
        </p:txBody>
      </p:sp>
      <p:pic>
        <p:nvPicPr>
          <p:cNvPr id="52" name="Picture 51" descr="La funzione esponenziale y uguale a alla x, con a maggiore di zero e a diverso da u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087562"/>
            <a:ext cx="2390775" cy="2190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8000" y="248412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652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203" y="2484120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48460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2011" y="2484120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39670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3220" y="248412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81071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4622" y="248412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0227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3" name="Picture 62" descr="Variabile 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778" y="2591752"/>
            <a:ext cx="123825" cy="10477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453003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6553" y="248412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3655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07206" y="248412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1409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4960" y="2484120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numero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9914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63465" y="2484120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38419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01969" y="248412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29071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2622" y="2484120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diverso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400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2950" y="248412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7154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10704" y="248412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01357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64908" y="248412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9111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2661" y="2484120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variabile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3739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5" name="Picture 84" descr="Variabile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290" y="2591752"/>
            <a:ext cx="133350" cy="10477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56040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19591" y="248412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46693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10243" y="2484120"/>
            <a:ext cx="144147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all'esponente.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3619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77170" y="2484120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Vediamo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79225" y="2484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8000" y="280416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692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0477" y="2804160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cambia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6725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30806" y="280416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3230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95855" y="280416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8188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45435" y="280416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7253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36087" y="280416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seconda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0019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63746" y="280416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8698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32249" y="2804160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5472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18278" y="280416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01081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64632" y="280416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6023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13" name="Picture 112" descr="Variabile 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787" y="2911792"/>
            <a:ext cx="123825" cy="104775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273012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Prima microlezione (7 min)</a:t>
            </a:r>
          </a:p>
        </p:txBody>
      </p:sp>
      <p:pic>
        <p:nvPicPr>
          <p:cNvPr id="3" name="Picture 2" descr="Grafico della funzione esponenziale y=2^x, che passa per (0,1) ed è 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57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" name="Picture 5" descr="a maggiore di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8" y="5654357"/>
            <a:ext cx="542925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9453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3004" y="55753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333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6882" y="5575300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esempio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076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2" name="Picture 11" descr="y uguale 2 alla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312" y="5632926"/>
            <a:ext cx="642937" cy="2047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2649" y="5575300"/>
            <a:ext cx="1777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232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75" y="55753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3726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7276" y="55753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138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935" y="557530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816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1713" y="557530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Prima microlezione (7 min)</a:t>
            </a:r>
          </a:p>
        </p:txBody>
      </p:sp>
      <p:pic>
        <p:nvPicPr>
          <p:cNvPr id="3" name="Picture 2" descr="Grafico della funzione esponenziale y=(1/2)^x, che passa per (0,1) ed è de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92286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577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" name="Picture 5" descr="0 minore di a minore di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8" y="5671343"/>
            <a:ext cx="962025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38553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2104" y="5592286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2431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982" y="5592286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esempio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9861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2" name="Picture 11" descr="y uguale un mezzo alla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412" y="5607050"/>
            <a:ext cx="919162" cy="290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7974" y="5592286"/>
            <a:ext cx="1777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7649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1200" y="5592286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9051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01" y="5592286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6709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0260" y="5592286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690" y="55922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1241" y="5592286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3. Prima attivazione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2574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Osserviamo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73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0903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23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4781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98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535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856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2114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9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516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482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8371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6030" y="1270000"/>
            <a:ext cx="14485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esponenziale.</a:t>
            </a:r>
          </a:p>
        </p:txBody>
      </p:sp>
      <p:pic>
        <p:nvPicPr>
          <p:cNvPr id="18" name="Picture 17" descr="Grafico della funzione esponenziale y=3^x, che passa per (0,1) ed è crescen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48789"/>
            <a:ext cx="6858000" cy="411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8000" y="6022340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Domanda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8981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531" y="602234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318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6735" y="602234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28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3838" y="6022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1689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239" y="602234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934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2898" y="6022340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032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3879" y="6022340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09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4645" y="602234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3. Prima attivazione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Domanda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9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531" y="127000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2: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318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6735" y="12700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374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7292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40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4951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5603" y="1270000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658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0135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72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0787" y="1270000"/>
            <a:ext cx="14103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4. Costruzione guidata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2067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Costruiamo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6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40154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insieme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76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1231" y="127000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273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6281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23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860" y="12700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866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2214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632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5" name="Picture 14" descr="y uguale 2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73" y="1327626"/>
            <a:ext cx="642937" cy="2047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4821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1761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208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5639" y="1270000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capire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811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667" y="127000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meglio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489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8445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629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9847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35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1901" y="1270000"/>
            <a:ext cx="15244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caratteristiche.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825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1809" y="1270000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Calcoliamo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22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45787" y="1270000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alcuni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289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1590040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203708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213868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0" y="203708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7600" y="213868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1900" y="21386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5450" y="2138680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8953" y="21386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41" name="Picture 40" descr="2 alla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504" y="2220118"/>
            <a:ext cx="228600" cy="15716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508000" y="2611120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2712720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0" y="2611120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un quar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0" y="2744470"/>
            <a:ext cx="185737" cy="280987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08000" y="3209607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600" y="3311207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0" y="3209607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n mezz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600" y="3342957"/>
            <a:ext cx="185737" cy="28098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508000" y="380809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390969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0" y="380809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7600" y="390969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8000" y="438213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600" y="448373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6000" y="438213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7600" y="448373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8000" y="495617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600" y="505777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4956175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7600" y="5057775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4. Costruzione guidata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127000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27000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7600" y="13716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844039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626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7" y="1844039"/>
            <a:ext cx="16261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rappresentiamo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4262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812" y="184403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7717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1268" y="184403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6873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424" y="1844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5376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8927" y="184403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82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1633" y="184403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cartesiano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6165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9716" y="1844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6817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0368" y="184403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uniamoli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1446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997" y="1844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3500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7051" y="184403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8356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906" y="184403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curva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0833" y="1844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4384" y="184403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liscia.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4. Costruzione guidata (10 min)</a:t>
            </a:r>
          </a:p>
        </p:txBody>
      </p:sp>
      <p:pic>
        <p:nvPicPr>
          <p:cNvPr id="3" name="Picture 2" descr="Grafico della funzione esponenziale y=2^x con punti calcolati per x da -2 a 3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Osservate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9730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3281" y="557530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779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330" y="55753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7909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60" y="55753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4263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814" y="5575300"/>
            <a:ext cx="8894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succede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9120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2671" y="55753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052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4073" y="5575300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0198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3749" y="55753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1600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20" name="Picture 19" descr="variabile 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151" y="5659120"/>
            <a:ext cx="1143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8485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8401" y="5575300"/>
            <a:ext cx="8007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101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24" name="Picture 23" descr="variabile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62" y="5682932"/>
            <a:ext cx="133350" cy="104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3331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863" y="55753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diventa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3869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7420" y="557530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molto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634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9898" y="5575300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piccolo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0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4852" y="5575300"/>
            <a:ext cx="11815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(negativo)?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09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1860" y="5575300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5085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8636" y="5575300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avvicinano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854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12093" y="55753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9195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5895340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zero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626" y="5895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7" y="5895340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33703" y="5895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7254" y="5895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5104" y="5895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38655" y="5895340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toccano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39212" y="5895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2763" y="5895340"/>
            <a:ext cx="5334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Seconda microlezione e formalizzazione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4099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Ricapitoliamo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82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3379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4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4031" y="1270000"/>
            <a:ext cx="1447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formalizziamo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80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7358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2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760" y="1270000"/>
            <a:ext cx="14609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caratteristiche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156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5117" y="1270000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principali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94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495" y="127000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544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8998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50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8578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642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9979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128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4835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894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2494" y="1270000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940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27" name="Picture 26" descr="y uguale a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956" y="1327626"/>
            <a:ext cx="652462" cy="2047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2081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74" y="171703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Dominio: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950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33" name="Picture 32" descr="x appartiene all'insieme dei numeri real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052" y="1793716"/>
            <a:ext cx="576262" cy="1666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47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826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1816" y="1717039"/>
            <a:ext cx="4447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849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2046" y="171703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essere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80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1626" y="1717039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definita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863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2183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251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6061" y="171703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qualsiasi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4531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08865" y="171703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134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4894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274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6296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674" y="2164079"/>
            <a:ext cx="11941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Codominio: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370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55" name="Picture 54" descr="y maggiore di ze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255" y="2224087"/>
            <a:ext cx="533400" cy="20002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4260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8960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531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670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80258" y="216407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638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9934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6778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31336" y="216407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4563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09187" y="216407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479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68343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3049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4046" y="2164079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9264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6198" y="2164079"/>
            <a:ext cx="21572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382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7371" y="216407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8340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46951" y="21640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740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37603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997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306" y="216407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sopra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3503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98586" y="216407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7580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39351" y="216407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x).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7674" y="2611119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Intersezione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9285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56409" y="261111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2491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88463" y="261111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6567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29229" y="2611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708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70630" y="261111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1353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77081" y="2611119"/>
            <a:ext cx="6100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4903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99" name="Picture 98" descr="punto zero virgola u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589" y="2656839"/>
            <a:ext cx="509587" cy="2286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84757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1112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74678" y="2611119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11685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75236" y="261111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perché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7406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06" name="Picture 105" descr="a elevato a zero uguale a u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617" y="2666364"/>
            <a:ext cx="642937" cy="20955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20595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69505" y="261111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9983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63383" y="261111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ogni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9543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12" name="Picture 111" descr="a diverso da zer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8988" y="2663983"/>
            <a:ext cx="542925" cy="214312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72731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7674" y="3058159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73606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37157" y="305815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orizzontale: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0598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69539" y="305815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23107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86657" y="305815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00957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64508" y="305815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(equazione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539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26" name="Picture 125" descr="y uguale a zer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8943" y="3118167"/>
            <a:ext cx="533400" cy="200025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5417743" y="3058159"/>
            <a:ext cx="1777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5741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20969" y="30581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87517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38723" y="305815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02831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66382" y="305815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031431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094982" y="3058159"/>
            <a:ext cx="8638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avvicina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2068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84236" y="305815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74638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09939" y="3058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più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14891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78442" y="3058159"/>
            <a:ext cx="7931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all'asse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93350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97059" y="305815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1135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174909" y="3058159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49243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55986" y="305815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3729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00841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17869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8000" y="3378199"/>
            <a:ext cx="5844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tocca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4354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17904" y="3378199"/>
            <a:ext cx="4699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mai.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8000" y="38252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84123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7674" y="382523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Monotonia: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778558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42109" y="382523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21687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60" name="Picture 159" descr="a maggiore di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5238" y="3904297"/>
            <a:ext cx="542925" cy="161925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2753563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17114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880664" y="3825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058515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22066" y="38252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986174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49725" y="3825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76826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240377" y="382523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002530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66080" y="382523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8000" y="42722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84123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47674" y="427227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27252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76" name="Picture 175" descr="0 minore di a minore di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803" y="4351337"/>
            <a:ext cx="962025" cy="161925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978228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041778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105329" y="42722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283180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346731" y="427227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210839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274390" y="4272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401491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465042" y="42722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227195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290745" y="4272279"/>
            <a:ext cx="13468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Seconda microlezione e formalizzazione (7 min)</a:t>
            </a:r>
          </a:p>
        </p:txBody>
      </p:sp>
      <p:pic>
        <p:nvPicPr>
          <p:cNvPr id="3" name="Picture 2" descr="Grafico generico di una funzione esponenziale y=a^x con a&gt;1, che mostra l'andamento crescente e il passaggio per (0,1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Seconda microlezione e formalizzazione (7 min)</a:t>
            </a:r>
          </a:p>
        </p:txBody>
      </p:sp>
      <p:pic>
        <p:nvPicPr>
          <p:cNvPr id="3" name="Picture 2" descr="Grafico generico di una funzione esponenziale y=a^x con 0&lt;a&lt;1, che mostra l'andamento decrescente e il passaggio per (0,1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6. Applicazione guidata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86986"/>
            <a:ext cx="14481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Consideriamo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8004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555" y="1286986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406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2957" y="1286986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7065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9" name="Picture 8" descr="y uguale un terzo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616" y="1301750"/>
            <a:ext cx="919162" cy="290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95178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8729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2280" y="1286986"/>
            <a:ext cx="6861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361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3911" y="1286986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disegnarla,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1994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545" y="1286986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provate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926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1477" y="1286986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578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129" y="1286986"/>
            <a:ext cx="10924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descrivere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432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983" y="1286986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7834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1385" y="1286986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9888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3439" y="1286986"/>
            <a:ext cx="14609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caratteristiche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6245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9796" y="1286986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principali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11623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1624012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basandovi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9958" y="1624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3509" y="1624012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54911" y="1624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8462" y="1624012"/>
            <a:ext cx="7371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17520" y="1624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1071" y="1624012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abbiamo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752" y="1624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1303" y="1624012"/>
            <a:ext cx="8007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appena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3913" y="1624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7463" y="1624012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imparato.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" y="207105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123" y="2071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674" y="2071052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Intersezione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92858" y="2071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6409" y="2071052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912" y="2071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88463" y="2071052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5678" y="2071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9229" y="2071052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000" y="251809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123" y="2518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674" y="2518092"/>
            <a:ext cx="1905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50" y="2518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701" y="2518092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54682" y="2518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18233" y="2518092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45335" y="2518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8885" y="2518092"/>
            <a:ext cx="14103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000" y="296513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123" y="2965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674" y="2965132"/>
            <a:ext cx="37391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C'è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3488" y="2965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038" y="2965132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1242" y="2965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4792" y="2965132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92451" y="2965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56002" y="2965132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Quale?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8000" y="341217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123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674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225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4776" y="3412172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20901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84452" y="341217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62303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25854" y="3412172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40154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03704" y="3412172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99309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62860" y="3412172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1462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25012" y="3412172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2114" y="341217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15665" y="3412172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negativi?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7. Consolidamento e errore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Spesso,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93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7482" y="127000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243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5985" y="1270000"/>
            <a:ext cx="10418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disegnare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976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3319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117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4720" y="1270000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247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6027" y="127000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esponenziali,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01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3687" y="127000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87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2287" y="1270000"/>
            <a:ext cx="12958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commettono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04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3595" y="1270000"/>
            <a:ext cx="6349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errori.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47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021" y="1270000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Osservate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575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302" y="1270000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555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9110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51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8689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579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9341" y="1270000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provate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72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273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823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1590040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individuare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3281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831" y="1590040"/>
            <a:ext cx="8057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l'errore.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2037080"/>
            <a:ext cx="11052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[Immagine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5104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8655" y="203708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9960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83511" y="2037080"/>
            <a:ext cx="11815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disponibile]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696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0519" y="2037080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7297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0847" y="203708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869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2249" y="203708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3554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7105" y="203708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41213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4763" y="2037080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1675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5225" y="203708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8372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7279" y="2037080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erroneamente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0314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33865" y="2037080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passa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770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7321" y="203708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764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1199" y="2037080"/>
            <a:ext cx="8185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l'origine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63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45190" y="2037080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(0,0)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15191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8000" y="2357120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anziché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95755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59306" y="235712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89633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53184" y="235712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(0,1),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736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50287" y="235712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80614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4165" y="2357120"/>
            <a:ext cx="130888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mantenendo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14952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78503" y="235712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2706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96257" y="2357120"/>
            <a:ext cx="11817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andamento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39943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03494" y="2357120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94475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58025" y="235712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tipico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91578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55129" y="235712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37932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01483" y="235712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65591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29141" y="2357120"/>
            <a:ext cx="69806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y=2^x.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8000" y="280416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500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08557" y="280416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9458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8136" y="2804160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dovrebbe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11170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74720" y="2804160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rappresentare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775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61306" y="280416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3915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02708" y="280416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681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99" name="Picture 98" descr="y uguale 2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367" y="2861786"/>
            <a:ext cx="642937" cy="204787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39870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6225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25806" y="280416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08609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72160" y="280416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99261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62812" y="2804160"/>
            <a:ext cx="74218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l'errore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66900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0451" y="280416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35403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98954" y="280416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evidente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63062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613" y="280416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5371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17265" y="2804160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perché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1609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79646" y="280416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6748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70299" y="2804160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sbagliato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38515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448707" y="280416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0800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1550" y="312419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67155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0706" y="31241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5780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21358" y="3124199"/>
            <a:ext cx="7371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quanto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20417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83968" y="312419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abbiamo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960649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24200" y="312419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imparato?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8. Sintesi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70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7252" y="1270000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concludere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33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8885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7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287" y="1270000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lezione,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804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1593" y="1270000"/>
            <a:ext cx="11431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ripassiamo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64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197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insieme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7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74" y="1270000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20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5574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11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4730" y="1270000"/>
            <a:ext cx="13468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fondamentali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34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7016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86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8417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oggi.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74" y="171703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Concetto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53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6082" y="1717039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principale: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78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1363" y="17170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556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9117" y="17170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22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6776" y="1717039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368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36" name="Picture 35" descr="y uguale a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238" y="1774666"/>
            <a:ext cx="652462" cy="2047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651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8651" y="171703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descrive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972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3280" y="17170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080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4358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145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5010" y="1717039"/>
            <a:ext cx="14481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decrescimenti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501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8566" y="171703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rapidi.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74" y="216407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Passa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295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6504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86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2208" y="216407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0253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6085" y="216407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6758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31134" y="2164079"/>
            <a:ext cx="6100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0309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59" name="Picture 58" descr="punto zero virgola u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642" y="2209799"/>
            <a:ext cx="509587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9016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674" y="261111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124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5" name="Picture 64" descr="asse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792" y="2718752"/>
            <a:ext cx="133350" cy="10477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2354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87093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</a:t>
            </a:r>
          </a:p>
        </p:txBody>
      </p:sp>
      <p:pic>
        <p:nvPicPr>
          <p:cNvPr id="68" name="Picture 67" descr="y uguale a zer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217" y="2671127"/>
            <a:ext cx="533400" cy="20002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22017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9814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61692" y="2611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8879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52344" y="261111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449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78047" y="2611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3225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95801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635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9909" y="261111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orizzontale.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674" y="3058159"/>
            <a:ext cx="7620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5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35201" y="3058159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7660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6" name="Picture 85" descr="a maggiore di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0154" y="3137217"/>
            <a:ext cx="542925" cy="161925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230847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202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35580" y="305815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301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26561" y="3058159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6796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93" name="Picture 92" descr="0 minore di a minore di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1514" y="3137217"/>
            <a:ext cx="962025" cy="16192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71893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8000" y="3505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412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7674" y="3505199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2725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46276" y="35051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00479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64030" y="3505199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evitare: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13609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77160" y="3505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58465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22016" y="3505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03320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66871" y="3505199"/>
            <a:ext cx="11687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intersecare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97527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61078" y="350519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3829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11" name="Picture 110" descr="asse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843" y="3612832"/>
            <a:ext cx="133350" cy="104775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36059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24144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7695" y="350519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38444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01995" y="350519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48120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11671" y="3505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89522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20" name="Picture 119" descr="variabile 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073" y="3589019"/>
            <a:ext cx="114300" cy="15240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659277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56324" y="350519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51928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15479" y="350519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77632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41182" y="350519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8. Sintesi (5 min)</a:t>
            </a:r>
          </a:p>
        </p:txBody>
      </p:sp>
      <p:pic>
        <p:nvPicPr>
          <p:cNvPr id="3" name="Picture 2" descr="Grafico che mostra due funzioni esponenziali, y=2^x (crescente) e y=(1/2)^x (decrescente), entrambe passanti per (0,1) e con asintoto orizzontale l'asse 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9. Verifica finale rapida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70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7252" y="1270000"/>
            <a:ext cx="12197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concludere,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888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2436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374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7292" y="1270000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032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876" y="1270000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veloce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453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8081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40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1959" y="1270000"/>
            <a:ext cx="9653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verificare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916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711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05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4113" y="1270000"/>
            <a:ext cx="15372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comprensione.</a:t>
            </a:r>
          </a:p>
        </p:txBody>
      </p:sp>
      <p:pic>
        <p:nvPicPr>
          <p:cNvPr id="20" name="Picture 19" descr="Grafico della funzione esponenziale y=4^x, che passa per (0,1) ed è crescen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48789"/>
            <a:ext cx="68580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8000" y="6022340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Osserva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907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2628" y="602234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12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677" y="602234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725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0808" y="6022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5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2209" y="602234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781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31" name="Picture 30" descr="variabile 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365" y="6129972"/>
            <a:ext cx="123825" cy="1047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50590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4140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1242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4793" y="6022340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maggiore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759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1149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8250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1801" y="6022340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minore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0403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3953" y="602234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5180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355" y="602234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9. Verifica finale rapida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5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5103" y="1270000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5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6084" y="1270000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329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6850" y="127000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